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j4gMHXVc+lC2pUABfQiawD054g4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customschemas.google.com/relationships/presentationmetadata" Target="metadata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https://pages.cs.wisc.edu/~remzi/OSTEP/file-journaling.pdf (overview of journaling steps: log, commit, checkpoint)</a:t>
            </a:r>
            <a:br>
              <a:rPr lang="en-US"/>
            </a:br>
            <a:r>
              <a:rPr lang="en-US"/>
              <a:t>[/Sources]</a:t>
            </a:r>
            <a:br>
              <a:rPr lang="en-US"/>
            </a:br>
            <a:r>
              <a:rPr lang="en-US"/>
              <a:t>  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https://www.nongnu.org/ext2-doc/ext2.html (ext2 on-disk structures; ext3/ext4 build upon ext2 and add journaling)</a:t>
            </a:r>
            <a:br>
              <a:rPr lang="en-US"/>
            </a:br>
            <a:r>
              <a:rPr lang="en-US"/>
              <a:t>[/Sources]</a:t>
            </a:r>
            <a:br>
              <a:rPr lang="en-US"/>
            </a:br>
            <a:r>
              <a:rPr lang="en-US"/>
              <a:t>  </a:t>
            </a:r>
            <a:endParaRPr/>
          </a:p>
        </p:txBody>
      </p:sp>
      <p:sp>
        <p:nvSpPr>
          <p:cNvPr id="34" name="Google Shape;3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https://www.nongnu.org/ext2-doc/ext2.html (general ext2 structure concepts: inodes, directories as files)</a:t>
            </a:r>
            <a:br>
              <a:rPr lang="en-US"/>
            </a:br>
            <a:r>
              <a:rPr lang="en-US"/>
              <a:t>[/Sources]</a:t>
            </a:r>
            <a:br>
              <a:rPr lang="en-US"/>
            </a:br>
            <a:r>
              <a:rPr lang="en-US"/>
              <a:t>  </a:t>
            </a:r>
            <a:endParaRPr/>
          </a:p>
        </p:txBody>
      </p:sp>
      <p:sp>
        <p:nvSpPr>
          <p:cNvPr id="63" name="Google Shape;6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https://pages.cs.wisc.edu/~remzi/OSTEP/file-journaling.pdf (transaction = log records + commit; replay committed)</a:t>
            </a:r>
            <a:br>
              <a:rPr lang="en-US"/>
            </a:br>
            <a:r>
              <a:rPr lang="en-US"/>
              <a:t>- https://github.com/torvalds/linux/blob/master/Documentation/filesystems/ext4/journal.rst (commit block indicates transaction written)</a:t>
            </a:r>
            <a:br>
              <a:rPr lang="en-US"/>
            </a:br>
            <a:r>
              <a:rPr lang="en-US"/>
              <a:t>[/Sources]</a:t>
            </a:r>
            <a:br>
              <a:rPr lang="en-US"/>
            </a:br>
            <a:r>
              <a:rPr lang="en-US"/>
              <a:t>  </a:t>
            </a:r>
            <a:endParaRPr/>
          </a:p>
        </p:txBody>
      </p:sp>
      <p:sp>
        <p:nvSpPr>
          <p:cNvPr id="80" name="Google Shape;8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https://pages.cs.wisc.edu/~remzi/OSTEP/file-journaling.pdf (write-ahead logging, commit, checkpoint semantics)</a:t>
            </a:r>
            <a:br>
              <a:rPr lang="en-US"/>
            </a:br>
            <a:r>
              <a:rPr lang="en-US"/>
              <a:t>[/Sources]</a:t>
            </a:r>
            <a:br>
              <a:rPr lang="en-US"/>
            </a:br>
            <a:r>
              <a:rPr lang="en-US"/>
              <a:t>  </a:t>
            </a:r>
            <a:endParaRPr/>
          </a:p>
        </p:txBody>
      </p:sp>
      <p:sp>
        <p:nvSpPr>
          <p:cNvPr id="110" name="Google Shape;11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https://pages.cs.wisc.edu/~remzi/OSTEP/file-journaling.pdf (crash model and recovery properties)</a:t>
            </a:r>
            <a:br>
              <a:rPr lang="en-US"/>
            </a:br>
            <a:r>
              <a:rPr lang="en-US"/>
              <a:t>[/Sources]</a:t>
            </a:r>
            <a:br>
              <a:rPr lang="en-US"/>
            </a:br>
            <a:r>
              <a:rPr lang="en-US"/>
              <a:t>  </a:t>
            </a:r>
            <a:endParaRPr/>
          </a:p>
        </p:txBody>
      </p:sp>
      <p:sp>
        <p:nvSpPr>
          <p:cNvPr id="129" name="Google Shape;12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822960" y="1508760"/>
            <a:ext cx="10545775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600"/>
              <a:buFont typeface="Calibri"/>
              <a:buNone/>
            </a:pPr>
            <a:r>
              <a:rPr b="1" i="0" lang="en-US" sz="4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Metadata Journaling on </a:t>
            </a:r>
            <a:r>
              <a:rPr b="1" lang="en-US" sz="46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VSFS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822960" y="2971800"/>
            <a:ext cx="5760720" cy="3291840"/>
          </a:xfrm>
          <a:prstGeom prst="rect">
            <a:avLst/>
          </a:prstGeom>
          <a:solidFill>
            <a:srgbClr val="EEF2FF"/>
          </a:solidFill>
          <a:ln cap="flat" cmpd="sng" w="12700">
            <a:solidFill>
              <a:srgbClr val="EEF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1097280" y="3154680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Tasks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1143000" y="3566160"/>
            <a:ext cx="530352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Disk image + </a:t>
            </a:r>
            <a:r>
              <a:rPr lang="en-US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VSFS</a:t>
            </a:r>
            <a:r>
              <a:rPr b="0" i="0" lang="en-US" sz="16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-like layout you will modify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60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0" lang="en-US" sz="16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edo journal format (multi-transaction)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60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Command semantics: create / install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60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Validator-driven correctness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6949440" y="2971800"/>
            <a:ext cx="4434840" cy="32918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7223760" y="315468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Core idea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223760" y="356616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Describe changes → Commit → Install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269480" y="4069080"/>
            <a:ext cx="3794760" cy="548640"/>
          </a:xfrm>
          <a:prstGeom prst="roundRect">
            <a:avLst>
              <a:gd fmla="val 16667" name="adj"/>
            </a:avLst>
          </a:prstGeom>
          <a:solidFill>
            <a:srgbClr val="EEF2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7434072" y="4178808"/>
            <a:ext cx="34655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create: append DATA records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9029700" y="4663440"/>
            <a:ext cx="274320" cy="2286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7269480" y="4937760"/>
            <a:ext cx="3794760" cy="548640"/>
          </a:xfrm>
          <a:prstGeom prst="roundRect">
            <a:avLst>
              <a:gd fmla="val 16667" name="adj"/>
            </a:avLst>
          </a:prstGeom>
          <a:solidFill>
            <a:srgbClr val="DBEAFE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7434072" y="5047488"/>
            <a:ext cx="34655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append COMMIT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9029700" y="5532120"/>
            <a:ext cx="274320" cy="2286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7269480" y="5806440"/>
            <a:ext cx="3794760" cy="548640"/>
          </a:xfrm>
          <a:prstGeom prst="roundRect">
            <a:avLst>
              <a:gd fmla="val 16667" name="adj"/>
            </a:avLst>
          </a:prstGeom>
          <a:solidFill>
            <a:srgbClr val="DCFCE7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7434072" y="5916168"/>
            <a:ext cx="34655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install: replay committed DATA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EEF2FF"/>
          </a:solidFill>
          <a:ln cap="flat" cmpd="sng" w="12700">
            <a:solidFill>
              <a:srgbClr val="EEF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"/>
          <p:cNvSpPr/>
          <p:nvPr/>
        </p:nvSpPr>
        <p:spPr>
          <a:xfrm>
            <a:off x="548640" y="109728"/>
            <a:ext cx="1109441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Provided disk image layout (</a:t>
            </a:r>
            <a:r>
              <a:rPr b="1" lang="en-US" sz="18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VSFS</a:t>
            </a:r>
            <a:r>
              <a:rPr b="1" i="0" lang="en-US" sz="1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-like)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731520" y="7772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You will be given an image with a fixed layout: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731520" y="1417320"/>
            <a:ext cx="10728655" cy="1097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777240" y="1508760"/>
            <a:ext cx="1170094" cy="914400"/>
          </a:xfrm>
          <a:prstGeom prst="roundRect">
            <a:avLst>
              <a:gd fmla="val 16667" name="adj"/>
            </a:avLst>
          </a:prstGeom>
          <a:solidFill>
            <a:srgbClr val="F1F5F9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822960" y="1673352"/>
            <a:ext cx="1078654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Superblock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(1 blk)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1947334" y="1508760"/>
            <a:ext cx="1170094" cy="914400"/>
          </a:xfrm>
          <a:prstGeom prst="roundRect">
            <a:avLst>
              <a:gd fmla="val 16667" name="adj"/>
            </a:avLst>
          </a:prstGeom>
          <a:solidFill>
            <a:srgbClr val="DBEAFE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"/>
          <p:cNvSpPr/>
          <p:nvPr/>
        </p:nvSpPr>
        <p:spPr>
          <a:xfrm>
            <a:off x="1993054" y="1673352"/>
            <a:ext cx="1078654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Journal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(16 blks)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3117427" y="1508760"/>
            <a:ext cx="1382838" cy="914400"/>
          </a:xfrm>
          <a:prstGeom prst="roundRect">
            <a:avLst>
              <a:gd fmla="val 16667" name="adj"/>
            </a:avLst>
          </a:prstGeom>
          <a:solidFill>
            <a:srgbClr val="F1F5F9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"/>
          <p:cNvSpPr/>
          <p:nvPr/>
        </p:nvSpPr>
        <p:spPr>
          <a:xfrm>
            <a:off x="3163147" y="1673352"/>
            <a:ext cx="129139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Inode bitmap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(1 blk)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4500265" y="1508760"/>
            <a:ext cx="1382838" cy="914400"/>
          </a:xfrm>
          <a:prstGeom prst="roundRect">
            <a:avLst>
              <a:gd fmla="val 16667" name="adj"/>
            </a:avLst>
          </a:prstGeom>
          <a:solidFill>
            <a:srgbClr val="F1F5F9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"/>
          <p:cNvSpPr/>
          <p:nvPr/>
        </p:nvSpPr>
        <p:spPr>
          <a:xfrm>
            <a:off x="4545985" y="1673352"/>
            <a:ext cx="129139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Data bitmap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(1 blk)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5883103" y="1508760"/>
            <a:ext cx="1808327" cy="914400"/>
          </a:xfrm>
          <a:prstGeom prst="roundRect">
            <a:avLst>
              <a:gd fmla="val 16667" name="adj"/>
            </a:avLst>
          </a:prstGeom>
          <a:solidFill>
            <a:srgbClr val="F1F5F9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"/>
          <p:cNvSpPr/>
          <p:nvPr/>
        </p:nvSpPr>
        <p:spPr>
          <a:xfrm>
            <a:off x="5928823" y="1673352"/>
            <a:ext cx="1716887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Inode table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(2 blks)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7691430" y="1508760"/>
            <a:ext cx="3723025" cy="9144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7737150" y="1673352"/>
            <a:ext cx="3631585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Data blocks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(64 blks)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731520" y="2880360"/>
            <a:ext cx="5669280" cy="274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1005840" y="306324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Parameters (fixed)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1005840" y="3474720"/>
            <a:ext cx="5120640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Block size = 4096 bytes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Inode size = 128 bytes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Journal lives in 16 blocks (append-only)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You modify the image in-place; you do not build mkfs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6537960" y="2880360"/>
            <a:ext cx="4919472" cy="274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6812280" y="3063240"/>
            <a:ext cx="43708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What the validator checks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6812280" y="3474720"/>
            <a:ext cx="4370832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Bitmaps agree with actual inodes/blocks in use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Directory entries point to allocated inodes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Inode block pointers point to allocated data blocks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No double-allocations or dangling references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" name="Google Shape;58;p3"/>
          <p:cNvCxnSpPr/>
          <p:nvPr/>
        </p:nvCxnSpPr>
        <p:spPr>
          <a:xfrm>
            <a:off x="548640" y="6355080"/>
            <a:ext cx="11094415" cy="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" name="Google Shape;59;p3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Disk image and image creator provided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EEF2FF"/>
          </a:solidFill>
          <a:ln cap="flat" cmpd="sng" w="12700">
            <a:solidFill>
              <a:srgbClr val="EEF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548640" y="109728"/>
            <a:ext cx="1109441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Core on-disk structures (simplified for the lab)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731520" y="868680"/>
            <a:ext cx="5806440" cy="2240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1005840" y="1051560"/>
            <a:ext cx="5257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Inode (128 bytes)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1005840" y="1463040"/>
            <a:ext cx="52578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type (free/file/dir), links, size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direct block pointers (small files)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optional: timestamps (only if validator cares)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731520" y="3337560"/>
            <a:ext cx="5806440" cy="2240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1005840" y="3520440"/>
            <a:ext cx="5257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Directory entry (fixed-size)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1005840" y="3931920"/>
            <a:ext cx="52578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inode number + fixed-length name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unused slot: inode == 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directory block = array of dirents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6812280" y="868680"/>
            <a:ext cx="4636008" cy="4709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7086600" y="105156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Invariants you must preserve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7086600" y="1417320"/>
            <a:ext cx="420624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Dirent → inode must reference an allocated inode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Allocated inode must have a valid type and bounds-checked pointers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Inode pointers → allocated data blocks (if any)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Bitmaps reflect the above (no leaks, no doubles)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" name="Google Shape;76;p4"/>
          <p:cNvCxnSpPr/>
          <p:nvPr/>
        </p:nvCxnSpPr>
        <p:spPr>
          <a:xfrm>
            <a:off x="548640" y="6355080"/>
            <a:ext cx="11094415" cy="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EEF2FF"/>
          </a:solidFill>
          <a:ln cap="flat" cmpd="sng" w="12700">
            <a:solidFill>
              <a:srgbClr val="EEF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548640" y="109728"/>
            <a:ext cx="1109441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Journal block format (</a:t>
            </a:r>
            <a:r>
              <a:rPr b="1" lang="en-US" sz="18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16 blocks long</a:t>
            </a:r>
            <a:r>
              <a:rPr b="1" i="0" lang="en-US" sz="1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, many transactions)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731520" y="77724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Journal is an append-only redo log inside 1 block: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731520" y="1325880"/>
            <a:ext cx="10728655" cy="1097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777240" y="1435608"/>
            <a:ext cx="1463040" cy="877824"/>
          </a:xfrm>
          <a:prstGeom prst="roundRect">
            <a:avLst>
              <a:gd fmla="val 16667" name="adj"/>
            </a:avLst>
          </a:prstGeom>
          <a:solidFill>
            <a:srgbClr val="F1F5F9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822960" y="1554480"/>
            <a:ext cx="1371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journal_header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(magic, nbytes_used)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2331720" y="1435608"/>
            <a:ext cx="1280160" cy="877824"/>
          </a:xfrm>
          <a:prstGeom prst="roundRect">
            <a:avLst>
              <a:gd fmla="val 16667" name="adj"/>
            </a:avLst>
          </a:prstGeom>
          <a:solidFill>
            <a:srgbClr val="DBEAFE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2377440" y="1554480"/>
            <a:ext cx="1188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3703320" y="1435608"/>
            <a:ext cx="1280160" cy="877824"/>
          </a:xfrm>
          <a:prstGeom prst="roundRect">
            <a:avLst>
              <a:gd fmla="val 16667" name="adj"/>
            </a:avLst>
          </a:prstGeom>
          <a:solidFill>
            <a:srgbClr val="DBEAFE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3749040" y="1554480"/>
            <a:ext cx="1188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5074920" y="1435608"/>
            <a:ext cx="1280160" cy="877824"/>
          </a:xfrm>
          <a:prstGeom prst="roundRect">
            <a:avLst>
              <a:gd fmla="val 16667" name="adj"/>
            </a:avLst>
          </a:prstGeom>
          <a:solidFill>
            <a:srgbClr val="DCFCE7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5120640" y="1554480"/>
            <a:ext cx="1188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COMMIT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6583680" y="1435608"/>
            <a:ext cx="1280160" cy="877824"/>
          </a:xfrm>
          <a:prstGeom prst="roundRect">
            <a:avLst>
              <a:gd fmla="val 16667" name="adj"/>
            </a:avLst>
          </a:prstGeom>
          <a:solidFill>
            <a:srgbClr val="DBEAFE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6629400" y="1554480"/>
            <a:ext cx="1188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7955280" y="1435608"/>
            <a:ext cx="1280160" cy="877824"/>
          </a:xfrm>
          <a:prstGeom prst="roundRect">
            <a:avLst>
              <a:gd fmla="val 16667" name="adj"/>
            </a:avLst>
          </a:prstGeom>
          <a:solidFill>
            <a:srgbClr val="DCFCE7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8001000" y="1554480"/>
            <a:ext cx="1188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COMMIT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9464040" y="169164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731520" y="2788920"/>
            <a:ext cx="5806440" cy="2834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1005840" y="2971800"/>
            <a:ext cx="5257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Record types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1005840" y="3383280"/>
            <a:ext cx="52578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Every record begins with rec_header { type, size }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DATA record: { block_no, full 4096B block image }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COMMIT record: seals the current transaction (no payload)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Parsing = read rec_header, interpret by type, jump by size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6537960" y="2788920"/>
            <a:ext cx="4919472" cy="2834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6812280" y="2971800"/>
            <a:ext cx="43708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Transaction rule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6812280" y="3383280"/>
            <a:ext cx="4370832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DATA records since last COMMIT belong to current txn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Txn is valid only if its COMMIT is present and fully readable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Tail DATA without COMMIT is discarded by install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Journal fills → require install (or refuse new txn)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" name="Google Shape;105;p5"/>
          <p:cNvCxnSpPr/>
          <p:nvPr/>
        </p:nvCxnSpPr>
        <p:spPr>
          <a:xfrm>
            <a:off x="548640" y="6355080"/>
            <a:ext cx="11094415" cy="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" name="Google Shape;106;p5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Single block, multi-transaction redo journal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EEF2FF"/>
          </a:solidFill>
          <a:ln cap="flat" cmpd="sng" w="12700">
            <a:solidFill>
              <a:srgbClr val="EEF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548640" y="109728"/>
            <a:ext cx="1109441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Command semantics (what your program must do)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731520" y="868680"/>
            <a:ext cx="5806440" cy="21488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1005840" y="1051560"/>
            <a:ext cx="5257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create &lt;name&gt;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1005840" y="1463040"/>
            <a:ext cx="5257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Read current metadata (bitmaps, inode table, directory blocks)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Compute updated versions of affected metadata blocks in memory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Append DATA records for each modified metadata block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Append COMMIT record </a:t>
            </a:r>
            <a:r>
              <a:rPr lang="en-US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to </a:t>
            </a:r>
            <a:r>
              <a:rPr b="0" i="0" lang="en-US" sz="14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the journal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Do NOT write metadata to home locations here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731520" y="3246120"/>
            <a:ext cx="5806440" cy="2423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1005840" y="3429000"/>
            <a:ext cx="5257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install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1005840" y="3840480"/>
            <a:ext cx="52578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Scan journal in order, grouping DATA records until COMMIT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For each committed txn: write each DATA block image to its block_no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If an incomplete txn exists (no COMMIT): do not apply; discard tail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Clear the journal (reset nbytes_used) after installation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0" name="Google Shape;120;p6"/>
          <p:cNvGrpSpPr/>
          <p:nvPr/>
        </p:nvGrpSpPr>
        <p:grpSpPr>
          <a:xfrm>
            <a:off x="7086600" y="2545080"/>
            <a:ext cx="4251900" cy="1234500"/>
            <a:chOff x="7086600" y="4297680"/>
            <a:chExt cx="4251900" cy="1234500"/>
          </a:xfrm>
        </p:grpSpPr>
        <p:sp>
          <p:nvSpPr>
            <p:cNvPr id="121" name="Google Shape;121;p6"/>
            <p:cNvSpPr/>
            <p:nvPr/>
          </p:nvSpPr>
          <p:spPr>
            <a:xfrm>
              <a:off x="7086600" y="4297680"/>
              <a:ext cx="4251900" cy="1234500"/>
            </a:xfrm>
            <a:prstGeom prst="roundRect">
              <a:avLst>
                <a:gd fmla="val 16667" name="adj"/>
              </a:avLst>
            </a:prstGeom>
            <a:solidFill>
              <a:srgbClr val="FEF3C7"/>
            </a:solidFill>
            <a:ln cap="flat" cmpd="sng" w="12700">
              <a:solidFill>
                <a:srgbClr val="F59E0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6"/>
            <p:cNvSpPr/>
            <p:nvPr/>
          </p:nvSpPr>
          <p:spPr>
            <a:xfrm>
              <a:off x="7315200" y="4434840"/>
              <a:ext cx="38404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F172A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0F172A"/>
                  </a:solidFill>
                  <a:latin typeface="Calibri"/>
                  <a:ea typeface="Calibri"/>
                  <a:cs typeface="Calibri"/>
                  <a:sym typeface="Calibri"/>
                </a:rPr>
                <a:t>If journal is full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6"/>
            <p:cNvSpPr/>
            <p:nvPr/>
          </p:nvSpPr>
          <p:spPr>
            <a:xfrm>
              <a:off x="7315200" y="4754880"/>
              <a:ext cx="3840600" cy="64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F172A"/>
                </a:buClr>
                <a:buSzPts val="1300"/>
                <a:buFont typeface="Calibri"/>
                <a:buNone/>
              </a:pPr>
              <a:r>
                <a:rPr b="0" i="0" lang="en-US" sz="1300" u="none" cap="none" strike="noStrike">
                  <a:solidFill>
                    <a:srgbClr val="0F172A"/>
                  </a:solidFill>
                  <a:latin typeface="Calibri"/>
                  <a:ea typeface="Calibri"/>
                  <a:cs typeface="Calibri"/>
                  <a:sym typeface="Calibri"/>
                </a:rPr>
                <a:t>Refuse new create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F172A"/>
                </a:buClr>
                <a:buSzPts val="1300"/>
                <a:buFont typeface="Calibri"/>
                <a:buNone/>
              </a:pPr>
              <a:r>
                <a:rPr b="0" i="0" lang="en-US" sz="1300" u="none" cap="none" strike="noStrike">
                  <a:solidFill>
                    <a:srgbClr val="0F172A"/>
                  </a:solidFill>
                  <a:latin typeface="Calibri"/>
                  <a:ea typeface="Calibri"/>
                  <a:cs typeface="Calibri"/>
                  <a:sym typeface="Calibri"/>
                </a:rPr>
                <a:t>(or require install first).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24" name="Google Shape;124;p6"/>
          <p:cNvCxnSpPr/>
          <p:nvPr/>
        </p:nvCxnSpPr>
        <p:spPr>
          <a:xfrm>
            <a:off x="548640" y="6355080"/>
            <a:ext cx="11094415" cy="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5" name="Google Shape;125;p6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Program edits the disk image directly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EEF2FF"/>
          </a:solidFill>
          <a:ln cap="flat" cmpd="sng" w="12700">
            <a:solidFill>
              <a:srgbClr val="EEF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"/>
          <p:cNvSpPr/>
          <p:nvPr/>
        </p:nvSpPr>
        <p:spPr>
          <a:xfrm>
            <a:off x="548640" y="109728"/>
            <a:ext cx="1109441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Testing and Deliverables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731520" y="868680"/>
            <a:ext cx="5806440" cy="26060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"/>
          <p:cNvSpPr/>
          <p:nvPr/>
        </p:nvSpPr>
        <p:spPr>
          <a:xfrm>
            <a:off x="1005840" y="1051560"/>
            <a:ext cx="5257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Testing approach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1005840" y="1463040"/>
            <a:ext cx="5257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Run sequences of create to fill multiple transactions</a:t>
            </a:r>
            <a:endParaRPr b="0" i="0" sz="1400" u="none" cap="none" strike="noStrike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Char char="•"/>
            </a:pPr>
            <a:r>
              <a:rPr lang="en-US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Run install sequences</a:t>
            </a:r>
            <a:endParaRPr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Goal: validator passes for all tested</a:t>
            </a:r>
            <a:r>
              <a:rPr lang="en-US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4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points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731520" y="3611880"/>
            <a:ext cx="5806440" cy="205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8"/>
          <p:cNvSpPr/>
          <p:nvPr/>
        </p:nvSpPr>
        <p:spPr>
          <a:xfrm>
            <a:off x="1005840" y="3794760"/>
            <a:ext cx="5257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Deliverables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1005840" y="4206240"/>
            <a:ext cx="52578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journal</a:t>
            </a:r>
            <a:r>
              <a:rPr lang="en-US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.c</a:t>
            </a:r>
            <a:r>
              <a:rPr b="0" i="0" lang="en-US" sz="14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 (create, install)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6812280" y="868680"/>
            <a:ext cx="4636008" cy="4800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7086600" y="1051560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Common failure modes (what validator catches)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7086600" y="1508760"/>
            <a:ext cx="429768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Dirent points to a free inode (dangling entry)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Inode allocated but unreachable (leak)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Data bitmap says “free” but inode points to it (mismatch)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Double allocation (two inodes share a block)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Journal tail corruption not safely ignored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" name="Google Shape;142;p8"/>
          <p:cNvCxnSpPr/>
          <p:nvPr/>
        </p:nvCxnSpPr>
        <p:spPr>
          <a:xfrm>
            <a:off x="548640" y="6355080"/>
            <a:ext cx="11094415" cy="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3" name="Google Shape;143;p8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2025-12-22T02:33:00Z</dcterms:created>
  <dc:creator>OS Lab</dc:creator>
</cp:coreProperties>
</file>